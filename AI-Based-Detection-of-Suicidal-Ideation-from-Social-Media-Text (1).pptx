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Raleway"/>
      <p:regular r:id="rId17"/>
    </p:embeddedFont>
    <p:embeddedFont>
      <p:font typeface="Raleway"/>
      <p:regular r:id="rId18"/>
    </p:embeddedFont>
    <p:embeddedFont>
      <p:font typeface="Raleway"/>
      <p:regular r:id="rId19"/>
    </p:embeddedFont>
    <p:embeddedFont>
      <p:font typeface="Raleway"/>
      <p:regular r:id="rId20"/>
    </p:embeddedFont>
    <p:embeddedFont>
      <p:font typeface="Roboto"/>
      <p:regular r:id="rId21"/>
    </p:embeddedFont>
    <p:embeddedFont>
      <p:font typeface="Roboto"/>
      <p:regular r:id="rId22"/>
    </p:embeddedFont>
    <p:embeddedFont>
      <p:font typeface="Roboto"/>
      <p:regular r:id="rId23"/>
    </p:embeddedFont>
    <p:embeddedFont>
      <p:font typeface="Robot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170271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AI-Based Detection of Suicidal Ideation from Social Media Text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63677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Using machine learning, deep learning, and large language models to find signs of mental health risk early, accurately, and responsibly.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5625346"/>
            <a:ext cx="1597462" cy="426244"/>
          </a:xfrm>
          <a:prstGeom prst="roundRect">
            <a:avLst>
              <a:gd name="adj" fmla="val 17880"/>
            </a:avLst>
          </a:prstGeom>
          <a:solidFill>
            <a:srgbClr val="E1E1EA"/>
          </a:solidFill>
          <a:ln/>
        </p:spPr>
      </p:sp>
      <p:sp>
        <p:nvSpPr>
          <p:cNvPr id="7" name="Text 4"/>
          <p:cNvSpPr/>
          <p:nvPr/>
        </p:nvSpPr>
        <p:spPr>
          <a:xfrm>
            <a:off x="929878" y="5693331"/>
            <a:ext cx="132528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HEALTHCARE AI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04599" y="5617726"/>
            <a:ext cx="628888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1B1B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48307" y="5693331"/>
            <a:ext cx="34147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NLP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46834" y="5617726"/>
            <a:ext cx="2682002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1B1B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90543" y="5693331"/>
            <a:ext cx="239458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MENTAL HEALTH ANALYTICS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2535"/>
            <a:ext cx="71087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 We're Solving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36627"/>
            <a:ext cx="4205168" cy="4205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59981" y="27156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This Matters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559981" y="3296841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Social media is where people often show signs of emotional pain before they ask for help. But these signs are often missed when looking at large amounts of data.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5559981" y="4277797"/>
            <a:ext cx="8284131" cy="1326713"/>
          </a:xfrm>
          <a:prstGeom prst="roundRect">
            <a:avLst>
              <a:gd name="adj" fmla="val 7181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795" y="4621887"/>
            <a:ext cx="283488" cy="2268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97097" y="4561284"/>
            <a:ext cx="732020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suicidal thoughts are shared online, they can come before a crisis. Finding them early can save lives.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5559981" y="5859661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challenge: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an AI system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that can automatically review social media text and spot suicidal ideation risk — with accuracy, context, and clear reasoning.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9049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Business Use Cases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252907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252907"/>
            <a:ext cx="31595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Mental Health Platforms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743325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Spot people at high risk early and offer help before things get worse.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3252907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3252907"/>
            <a:ext cx="29864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Social Media Platforms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07348" y="3743325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Automatically flag harmful or suicidal posts so teams can review them and reach out.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4922758"/>
            <a:ext cx="32896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Healthcare Organisations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44253" y="5413177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Help care teams spot warning signs early with AI support for prevention and triage.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4922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Support Systems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07348" y="5413177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risk alerts to AI chatbots and mental health support tools.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73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43138"/>
            <a:ext cx="33798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Suicide Detection Dataset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82428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Reddit communities — real social media posts labeled for suicidal and non-suicidal content.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754160"/>
            <a:ext cx="6244709" cy="741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CSV with two columns —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(post content) and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(binary label: suicide / non-suicide).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69927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dataset can be split into training and testing sets. This gives a solid base for building and checking models.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5680234"/>
            <a:ext cx="6244709" cy="1326713"/>
          </a:xfrm>
          <a:prstGeom prst="roundRect">
            <a:avLst>
              <a:gd name="adj" fmla="val 7181"/>
            </a:avLst>
          </a:prstGeom>
          <a:solidFill>
            <a:srgbClr val="B6D6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024324"/>
            <a:ext cx="283488" cy="22681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30906" y="5963722"/>
            <a:ext cx="52807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data is already labeled, so you can use it for supervised learning with any model type.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599521" y="2271474"/>
            <a:ext cx="3008948" cy="2509242"/>
          </a:xfrm>
          <a:prstGeom prst="roundRect">
            <a:avLst>
              <a:gd name="adj" fmla="val 379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33955" y="2505908"/>
            <a:ext cx="2540079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Column: 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833955" y="3094673"/>
            <a:ext cx="25400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Raw social media post content — the main input for all models.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10835283" y="2271474"/>
            <a:ext cx="3008948" cy="2509242"/>
          </a:xfrm>
          <a:prstGeom prst="roundRect">
            <a:avLst>
              <a:gd name="adj" fmla="val 379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069717" y="2505908"/>
            <a:ext cx="2540079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Column: 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1069717" y="3094673"/>
            <a:ext cx="254007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Binary target label —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suicide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non-suicide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used for supervised classification.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6014" y="550307"/>
            <a:ext cx="5035748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Methodology &amp; Approach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9069" y="1337072"/>
            <a:ext cx="10472142" cy="57223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60002" y="4018348"/>
            <a:ext cx="2426473" cy="330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Cleaning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9587259" y="3981116"/>
            <a:ext cx="2426473" cy="330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Basic Data Review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6594058" y="3993038"/>
            <a:ext cx="2426474" cy="330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First ML Models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1446014" y="7202924"/>
            <a:ext cx="1173825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project follows a clear, step-by-step AI process. It starts with data cleaning, then moves to basic review, and ends with transformer-based understanding and LLM-powered risk explanations.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73116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Three-Tier Modelling Architecture</a:t>
            </a:r>
            <a:endParaRPr lang="en-US" sz="4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488883"/>
            <a:ext cx="1134070" cy="16698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154674" y="27156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Classical ML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154674" y="3206115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TF-IDF features with Logistic Regression, Naive Bayes, and SVM — quick, easy-to-understand starting points.</a:t>
            </a:r>
            <a:endParaRPr lang="en-US" sz="1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158734"/>
            <a:ext cx="1134070" cy="16698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154674" y="4385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Deep Learning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2154674" y="4875967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LSTM, BiLSTM, and CNN models look for word order and local patterns in the text.</a:t>
            </a:r>
            <a:endParaRPr lang="en-US" sz="1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828586"/>
            <a:ext cx="1134070" cy="166985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154674" y="60554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Transformers &amp; LLMs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2154674" y="6545818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Fine-tuned BERT and LLM support for better context and clearer prediction explanations.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8211"/>
            <a:ext cx="58144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Evaluation Framework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03966"/>
            <a:ext cx="41097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Metrics Used Across All Models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2813447"/>
            <a:ext cx="3008948" cy="1821537"/>
          </a:xfrm>
          <a:prstGeom prst="roundRect">
            <a:avLst>
              <a:gd name="adj" fmla="val 5230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084" y="3070741"/>
            <a:ext cx="24943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Accuracy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084" y="3651885"/>
            <a:ext cx="24943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often the model is correct overall.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4029551" y="2813447"/>
            <a:ext cx="3008948" cy="1821537"/>
          </a:xfrm>
          <a:prstGeom prst="roundRect">
            <a:avLst>
              <a:gd name="adj" fmla="val 5230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86845" y="3070741"/>
            <a:ext cx="24943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Precision &amp; Recall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286845" y="3651885"/>
            <a:ext cx="24943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Important for reducing missed risk cases.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4861798"/>
            <a:ext cx="3008948" cy="2184440"/>
          </a:xfrm>
          <a:prstGeom prst="roundRect">
            <a:avLst>
              <a:gd name="adj" fmla="val 4361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084" y="5119092"/>
            <a:ext cx="24943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F1 Score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51084" y="5700236"/>
            <a:ext cx="249435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single score that balances precision and recall.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4029551" y="4861798"/>
            <a:ext cx="3008948" cy="2184440"/>
          </a:xfrm>
          <a:prstGeom prst="roundRect">
            <a:avLst>
              <a:gd name="adj" fmla="val 4361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86845" y="5119092"/>
            <a:ext cx="24943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Confusion Matrix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286845" y="5700236"/>
            <a:ext cx="249435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Shows true and false positives and negatives in model results.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599521" y="2232303"/>
            <a:ext cx="6244709" cy="2052518"/>
          </a:xfrm>
          <a:prstGeom prst="roundRect">
            <a:avLst>
              <a:gd name="adj" fmla="val 4642"/>
            </a:avLst>
          </a:prstGeom>
          <a:solidFill>
            <a:srgbClr val="D2D2E0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6335" y="2576393"/>
            <a:ext cx="283488" cy="22681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336637" y="2515791"/>
            <a:ext cx="528077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comparison table will show how ML, deep learning, and transformer models perform side by side. This helps find the approach that gives the best mix of accuracy and patient safety.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7599521" y="4539972"/>
            <a:ext cx="30785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Optional: Explainable AI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599521" y="512111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SHAP or LIME can show which words and phrases affect each prediction. This helps build trust with clinical teams.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78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Expected Results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90249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1B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241173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131939"/>
            <a:ext cx="29646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Accurate Classification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622358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Reliable detection of suicidal vs. non-suicidal posts across different social media language patterns.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1990249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62982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1B2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0148" y="241173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62982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Benchmarking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62982" y="3622358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clear performance comparison across ML, deep learning, and transformer models.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809411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28224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1B2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5390" y="523089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8224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Risk Signals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8224" y="6441519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Finding the words and phrases that most strongly show suicide risk.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809411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62982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1B2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50148" y="523089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62982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Working Prototype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62982" y="6441519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ready-to-use AI pipeline for mental health monitoring that can be added to other systems.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2535"/>
            <a:ext cx="60808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Technical Stack &amp; Skills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36627"/>
            <a:ext cx="4205168" cy="4205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59981" y="31353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Technologies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559981" y="3716536"/>
            <a:ext cx="8284131" cy="2573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Languages: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Python (Scikit-learn, TensorFlow, PyTorch, Transformers)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NLP: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Text cleanup, token splitting, stopword removal, TF-IDF, embeddings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Learning: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LSTM, BiLSTM, CNN, BERT fine-tuning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Reading context and creating risk explanations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XAI (Optional):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SHAP, LIME for model understanding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 Practices: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Git version control, modular code, clear documentation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5562" y="605909"/>
            <a:ext cx="5263158" cy="70176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1407" y="665440"/>
            <a:ext cx="5582007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Deliverables</a:t>
            </a:r>
            <a:endParaRPr lang="en-US" sz="4350" dirty="0"/>
          </a:p>
        </p:txBody>
      </p:sp>
      <p:sp>
        <p:nvSpPr>
          <p:cNvPr id="5" name="Text 2"/>
          <p:cNvSpPr/>
          <p:nvPr/>
        </p:nvSpPr>
        <p:spPr>
          <a:xfrm>
            <a:off x="781407" y="1692831"/>
            <a:ext cx="446484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81407" y="2041803"/>
            <a:ext cx="3680698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7" name="Text 4"/>
          <p:cNvSpPr/>
          <p:nvPr/>
        </p:nvSpPr>
        <p:spPr>
          <a:xfrm>
            <a:off x="781407" y="2214324"/>
            <a:ext cx="3422333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Source Code &amp; Notebooks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781407" y="2694980"/>
            <a:ext cx="3680698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 Python scripts and Jupyter notebooks for data prep, training, and testing.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681895" y="1692831"/>
            <a:ext cx="446484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4681895" y="2041803"/>
            <a:ext cx="3680698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8"/>
          <p:cNvSpPr/>
          <p:nvPr/>
        </p:nvSpPr>
        <p:spPr>
          <a:xfrm>
            <a:off x="4681895" y="2214324"/>
            <a:ext cx="3163253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Evaluation Report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4681895" y="2694980"/>
            <a:ext cx="3680698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clear side-by-side comparison of all models, with results and key takeaways.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81407" y="4145161"/>
            <a:ext cx="446484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81407" y="4494133"/>
            <a:ext cx="7581186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5" name="Text 12"/>
          <p:cNvSpPr/>
          <p:nvPr/>
        </p:nvSpPr>
        <p:spPr>
          <a:xfrm>
            <a:off x="781407" y="4666655"/>
            <a:ext cx="2954536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Report &amp; Slides</a:t>
            </a:r>
            <a:endParaRPr lang="en-US" sz="2150" dirty="0"/>
          </a:p>
        </p:txBody>
      </p:sp>
      <p:sp>
        <p:nvSpPr>
          <p:cNvPr id="16" name="Text 13"/>
          <p:cNvSpPr/>
          <p:nvPr/>
        </p:nvSpPr>
        <p:spPr>
          <a:xfrm>
            <a:off x="781407" y="5147310"/>
            <a:ext cx="758118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full write-up of the method, results, and a presentation that explains the project end to end.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781407" y="6270546"/>
            <a:ext cx="7581186" cy="1293495"/>
          </a:xfrm>
          <a:prstGeom prst="roundRect">
            <a:avLst>
              <a:gd name="adj" fmla="val 7250"/>
            </a:avLst>
          </a:prstGeom>
          <a:solidFill>
            <a:srgbClr val="B6FCB8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49" y="6605588"/>
            <a:ext cx="279083" cy="22324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506974" y="6546056"/>
            <a:ext cx="663237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deliverables follow clear coding habits, use version control, include notes in the code, and can be repeated easily.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2026-04-29T02:18:13Z</dcterms:created>
  <dcterms:modified xsi:type="dcterms:W3CDTF">2026-04-29T02:18:13Z</dcterms:modified>
</cp:coreProperties>
</file>